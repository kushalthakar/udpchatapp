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74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CE"/>
    <a:srgbClr val="2463EC"/>
    <a:srgbClr val="637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26"/>
  </p:normalViewPr>
  <p:slideViewPr>
    <p:cSldViewPr snapToGrid="0">
      <p:cViewPr varScale="1">
        <p:scale>
          <a:sx n="120" d="100"/>
          <a:sy n="120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480BB2-291A-FB6B-13AD-72748A6A00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209400-C7D7-B1E3-85B1-7C1750088D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296C2-9F6F-AF4C-BB1D-0A3E11D576F0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ACDEF-9C17-5D03-E73B-DEE0BD6787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UDP Chat Application – Swift /SwiftUI / Wireshark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6CC79-DD4C-1BBB-212C-7AF3BB05F4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73DC9-826B-B544-8B7F-E100A6502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71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Content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3AC9C-003A-0C4E-9065-DA2F80871C44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UDP Chat Application – Swift /SwiftUI / Wireshark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A0D94-36D3-9449-9A3C-727273286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51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582D-E0AA-E966-5864-1F1CAE818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001BF-942C-5DFC-6B16-9CAAAD9CE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0E738-F09D-FF6D-235A-386612C3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3125-DE0F-F544-897F-2A1734150B80}" type="datetime1">
              <a:rPr lang="en-IN" smtClean="0"/>
              <a:t>08/08/26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FB1EF-939C-0D33-1EA5-2ADC878A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83C07-D7F8-8648-6375-82D09843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55A5-5DAB-3820-8E26-75699B76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52256-99AD-2C3D-7D91-97F862DA9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BD965-B12B-54BA-25F5-98660B67E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F7EA1-ACCD-BA4E-9588-CDE7B30B0184}" type="datetime1">
              <a:rPr lang="en-IN" smtClean="0"/>
              <a:t>08/08/26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6FCEA-0BAD-D78F-326F-E0E4DB06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D82C9-B985-C677-DDEF-9AB74F2A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4A08-0707-739C-05BD-AC7C27CA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8EC5-D123-9381-5C27-732EB161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B472D-9FB5-3A39-436C-89E41E14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500C-66E8-4B47-B957-BD1675640C01}" type="datetime1">
              <a:rPr lang="en-IN" smtClean="0"/>
              <a:t>08/08/26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FF31-C76A-F251-44AB-A8C6C65C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0D942-E1FF-8B04-6C99-A5B58D23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6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EE54-E700-1EF3-6749-3015FDBF0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2F7C-4211-7953-63F5-3DEC6D85C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6B618-38BE-022C-D0F2-911E3ABEA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565BA-3515-96CA-127B-3868EF9C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64F1-D1D5-5147-A444-E85FD2E5BD46}" type="datetime1">
              <a:rPr lang="en-IN" smtClean="0"/>
              <a:t>08/08/26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204B6-66C6-6523-5CAC-17B56DFC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397F3-6F01-5949-41A0-56A6F995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34A-1380-432A-DE20-6139280A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51058-8F36-34A3-BDEA-D8EB2EB28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3DE92-2D6C-102F-E167-FFEBB514B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36803-CB7B-8F26-5B9F-7EF7ED18C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02552-7C66-7691-88E2-8EFD5C359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D664C-F674-D2D4-4B7C-D938768E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033B-FEFD-144A-A72E-DF70F98149D6}" type="datetime1">
              <a:rPr lang="en-IN" smtClean="0"/>
              <a:t>08/08/26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B64DC-525E-34A2-FC5C-62499D36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32095-DC14-395E-08BD-DA2C1E8E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1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2064-6E86-3749-405E-D966F808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5F08D-0E75-DEA8-7A5B-C44CC4CB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9EEF-C3C0-0B41-AF3C-74764656CF06}" type="datetime1">
              <a:rPr lang="en-IN" smtClean="0"/>
              <a:t>08/08/26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12A12-E268-EF48-913C-C639E3B6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05A43-F4BA-A9BB-603A-A5D07CED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1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CBAB3-74B7-3703-1E57-CFAB8511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0DB4-3449-C14F-8F8F-722311AA81A4}" type="datetime1">
              <a:rPr lang="en-IN" smtClean="0"/>
              <a:t>08/08/26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6A311-CC10-FD63-CC61-65EC1075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6846A-6EA1-9785-7C93-AD0381F6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3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8C28-AB92-5610-6360-72DE97E4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7233-88AB-A0A6-D6F3-0976A79A3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58F7F-C95A-49BD-F8DC-D5692E2BD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30997-B9E4-08FA-617C-F7630F76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7249-1565-474D-A30E-E364176AABAC}" type="datetime1">
              <a:rPr lang="en-IN" smtClean="0"/>
              <a:t>08/08/26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B3B93-E978-C713-9D8F-75C081F1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AC588-CD46-BC69-BCEF-48B18D08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B594-64D4-9C1C-CBA8-24244AB4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6A7D0-F7E7-0C73-6C72-91467ECBA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F5012-0F2F-45FE-9CDE-77B672961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53401-7B61-C318-2AFD-BB475D1F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D49F-CF50-5847-9F2F-1C552A5EDB53}" type="datetime1">
              <a:rPr lang="en-IN" smtClean="0"/>
              <a:t>08/08/26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C9F84-BE57-B9B9-5284-C0DD42B2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45589-582A-707C-109C-D4E082B4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2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93A8-3DEC-35BA-0DEA-DEA028C0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A8ED6-18B5-D28C-EEEF-ACED61804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EA96-F41E-9BDA-B8BE-D3FD4C58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F729-3BF5-A24F-A35D-9A404214A900}" type="datetime1">
              <a:rPr lang="en-IN" smtClean="0"/>
              <a:t>08/08/26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C9C6A-5B49-FE5A-8DBD-53597EA6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B0C7A-93EA-447B-0FC9-4FF02029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9279D-486D-DFDB-3F1A-3D172FCF1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02BC8-2685-32A3-025D-EAE8F2791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257D-99EC-B13D-D501-94449601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C808-4BA8-EF48-BDAE-4691A172D18B}" type="datetime1">
              <a:rPr lang="en-IN" smtClean="0"/>
              <a:t>08/08/26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7D398-032D-30C5-2F19-79B9EE2F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CCEF-0656-7B35-471F-322C036C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282BB6-A8AF-A8B7-46FD-EB033445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730EF-3606-AC6B-DEB5-77D228AC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8F14E-8D14-4B58-CA07-800CDE9E0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CFC22-6B2D-9F4B-B928-F921163C99C0}" type="datetime1">
              <a:rPr lang="en-IN" smtClean="0"/>
              <a:t>08/08/26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CCB37-C376-0A0A-389C-02DA7A0FE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UDP Chat Application – Swift /SwiftUI / Wireshark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ED026-37AC-E015-B588-3EE79B69E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A0A5A-F9E4-8C4D-A136-CA4EB4B6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5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A1DD-918A-A6D0-C287-35D34E534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489" y="842084"/>
            <a:ext cx="7250655" cy="1212627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UDP Chat Application using Swift, </a:t>
            </a:r>
            <a:r>
              <a:rPr lang="en-US" sz="4000" b="1" dirty="0" err="1"/>
              <a:t>SwiftUI</a:t>
            </a:r>
            <a:r>
              <a:rPr lang="en-US" sz="4000" b="1" dirty="0"/>
              <a:t> and Wireshark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D461E-84A0-13A7-B0A6-A7CCA01E5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89" y="3274828"/>
            <a:ext cx="6700820" cy="2171620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Student name: Kushalkumar Thakar</a:t>
            </a:r>
          </a:p>
          <a:p>
            <a:pPr algn="l"/>
            <a:r>
              <a:rPr lang="en-US" sz="2000" dirty="0"/>
              <a:t>Student Id: 5155617</a:t>
            </a:r>
          </a:p>
          <a:p>
            <a:pPr algn="l"/>
            <a:r>
              <a:rPr lang="en-US" sz="2000" dirty="0"/>
              <a:t>Course name: Computer Networks (COSC-5906-S01)</a:t>
            </a:r>
          </a:p>
          <a:p>
            <a:pPr algn="l"/>
            <a:r>
              <a:rPr lang="en-US" sz="2000" dirty="0"/>
              <a:t>Instructor name: </a:t>
            </a:r>
            <a:r>
              <a:rPr lang="en-US" sz="2000" dirty="0" err="1"/>
              <a:t>Ajmery</a:t>
            </a:r>
            <a:r>
              <a:rPr lang="en-US" sz="2000" dirty="0"/>
              <a:t> Sultana</a:t>
            </a:r>
          </a:p>
          <a:p>
            <a:pPr algn="l"/>
            <a:r>
              <a:rPr lang="en-US" sz="2000" dirty="0"/>
              <a:t>Date:  22 July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0BAC8-C126-49F2-4C87-45E51618E1B1}"/>
              </a:ext>
            </a:extLst>
          </p:cNvPr>
          <p:cNvSpPr txBox="1"/>
          <p:nvPr/>
        </p:nvSpPr>
        <p:spPr>
          <a:xfrm>
            <a:off x="688489" y="2376647"/>
            <a:ext cx="327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CE"/>
                </a:solidFill>
              </a:rPr>
              <a:t>Computer Networks Project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2DA1E5-865F-9C6F-600B-925AD725AAC8}"/>
              </a:ext>
            </a:extLst>
          </p:cNvPr>
          <p:cNvCxnSpPr>
            <a:cxnSpLocks/>
          </p:cNvCxnSpPr>
          <p:nvPr/>
        </p:nvCxnSpPr>
        <p:spPr>
          <a:xfrm>
            <a:off x="817580" y="2764716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1BE7C8C-7ABA-DD79-DD86-22750AE0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241656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971F-05A6-4AD0-8D72-5978195F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05636-D595-AFF5-08F4-51117C82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343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B31CC-F398-B96E-097C-12AA5745BB1E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24EE3-C3D4-7C9B-1F11-D3EDC5EEFD5E}"/>
              </a:ext>
            </a:extLst>
          </p:cNvPr>
          <p:cNvSpPr txBox="1"/>
          <p:nvPr/>
        </p:nvSpPr>
        <p:spPr>
          <a:xfrm>
            <a:off x="838200" y="1630816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 peer-to-peer chat application that lets two devices or simulators exchange text messages using the User Datagram Protocol.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A7EB28-8840-3D81-8FB8-3515C64D66D6}"/>
              </a:ext>
            </a:extLst>
          </p:cNvPr>
          <p:cNvCxnSpPr>
            <a:cxnSpLocks/>
          </p:cNvCxnSpPr>
          <p:nvPr/>
        </p:nvCxnSpPr>
        <p:spPr>
          <a:xfrm>
            <a:off x="838200" y="1243117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69AC2F-0D64-E428-F4BF-297E4A036842}"/>
              </a:ext>
            </a:extLst>
          </p:cNvPr>
          <p:cNvSpPr txBox="1"/>
          <p:nvPr/>
        </p:nvSpPr>
        <p:spPr>
          <a:xfrm>
            <a:off x="799759" y="2549414"/>
            <a:ext cx="66175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Understand UDP socket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Send and receive UDP datagrams.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Study IP Address and Port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Capture and analyze packet using Wireshark.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Compare UDP and TCP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A1562-8383-F15D-150D-E511E9CE6423}"/>
              </a:ext>
            </a:extLst>
          </p:cNvPr>
          <p:cNvSpPr/>
          <p:nvPr/>
        </p:nvSpPr>
        <p:spPr>
          <a:xfrm>
            <a:off x="8665028" y="2549414"/>
            <a:ext cx="1944915" cy="707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SwiftUI</a:t>
            </a:r>
            <a:r>
              <a:rPr lang="en-US" dirty="0">
                <a:solidFill>
                  <a:schemeClr val="tx1"/>
                </a:solidFill>
              </a:rPr>
              <a:t> Client 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D70DBC-1191-42C6-8DA3-9CB5664BFF0C}"/>
              </a:ext>
            </a:extLst>
          </p:cNvPr>
          <p:cNvSpPr/>
          <p:nvPr/>
        </p:nvSpPr>
        <p:spPr>
          <a:xfrm>
            <a:off x="8665027" y="3611278"/>
            <a:ext cx="1944915" cy="697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UDP Datagram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E9036F-F84F-2E14-2BA6-68F7B9558CE2}"/>
              </a:ext>
            </a:extLst>
          </p:cNvPr>
          <p:cNvSpPr/>
          <p:nvPr/>
        </p:nvSpPr>
        <p:spPr>
          <a:xfrm>
            <a:off x="8665028" y="4662566"/>
            <a:ext cx="1944915" cy="686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SwiftUI</a:t>
            </a:r>
            <a:r>
              <a:rPr lang="en-US" dirty="0">
                <a:solidFill>
                  <a:schemeClr val="tx1"/>
                </a:solidFill>
              </a:rPr>
              <a:t> Client 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D25F96-8CA6-663E-239A-DC65852DFEF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flipH="1">
            <a:off x="9637485" y="3257301"/>
            <a:ext cx="1" cy="353977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1314AF-62DF-D204-5969-45A277304B3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9637485" y="4308588"/>
            <a:ext cx="1" cy="353978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840E85E-07C2-1E03-7DD0-1A18B449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2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1339F557-D6E8-C8FE-44F6-98FD1122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318802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63E3-07E7-246E-9773-D9D0AAE42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8496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Problem Statement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C9268-C03E-F8C2-315C-C34667FECDE9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MOTIVATION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4769A-0B12-BCA9-C2C4-5AB13FA993F5}"/>
              </a:ext>
            </a:extLst>
          </p:cNvPr>
          <p:cNvSpPr txBox="1"/>
          <p:nvPr/>
        </p:nvSpPr>
        <p:spPr>
          <a:xfrm>
            <a:off x="838200" y="1630816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Production chat system normally use TCP, TLS, or Web Sockets because reliable delivery matters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04F498-272C-0166-FCAB-EA86A86B1875}"/>
              </a:ext>
            </a:extLst>
          </p:cNvPr>
          <p:cNvCxnSpPr>
            <a:cxnSpLocks/>
          </p:cNvCxnSpPr>
          <p:nvPr/>
        </p:nvCxnSpPr>
        <p:spPr>
          <a:xfrm>
            <a:off x="838199" y="134480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FFBE94-9799-3F37-1ED9-F79BA3DE3E61}"/>
              </a:ext>
            </a:extLst>
          </p:cNvPr>
          <p:cNvSpPr txBox="1"/>
          <p:nvPr/>
        </p:nvSpPr>
        <p:spPr>
          <a:xfrm>
            <a:off x="799759" y="2549414"/>
            <a:ext cx="6617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intentionally uses UDP to demonstrate connectionless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has low overhead and can transmit message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does not guarantee delivery, ordering, or retransmission.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20EB3C5-22A4-EFEC-2581-DC3FABEEF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287352"/>
              </p:ext>
            </p:extLst>
          </p:nvPr>
        </p:nvGraphicFramePr>
        <p:xfrm>
          <a:off x="838199" y="4205366"/>
          <a:ext cx="10515600" cy="1955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458362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14373108"/>
                    </a:ext>
                  </a:extLst>
                </a:gridCol>
              </a:tblGrid>
              <a:tr h="488870"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 anchor="ctr"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Observe</a:t>
                      </a:r>
                    </a:p>
                  </a:txBody>
                  <a:tcPr anchor="ctr"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029858"/>
                  </a:ext>
                </a:extLst>
              </a:tr>
              <a:tr h="488870">
                <a:tc>
                  <a:txBody>
                    <a:bodyPr/>
                    <a:lstStyle/>
                    <a:p>
                      <a:r>
                        <a:rPr lang="en-US" dirty="0"/>
                        <a:t>No handshake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Packet appearance without connection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633719"/>
                  </a:ext>
                </a:extLst>
              </a:tr>
              <a:tr h="488870">
                <a:tc>
                  <a:txBody>
                    <a:bodyPr/>
                    <a:lstStyle/>
                    <a:p>
                      <a:r>
                        <a:rPr lang="en-US" dirty="0"/>
                        <a:t>Low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transport 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890732"/>
                  </a:ext>
                </a:extLst>
              </a:tr>
              <a:tr h="488870">
                <a:tc>
                  <a:txBody>
                    <a:bodyPr/>
                    <a:lstStyle/>
                    <a:p>
                      <a:r>
                        <a:rPr lang="en-US" dirty="0"/>
                        <a:t>No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Lost messages are not 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397090"/>
                  </a:ext>
                </a:extLst>
              </a:tr>
            </a:tbl>
          </a:graphicData>
        </a:graphic>
      </p:graphicFrame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F5CC040-98FE-0906-B481-64F41F59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3</a:t>
            </a:fld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C3743598-D714-61AB-7466-8E04C57F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276955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90F8-F004-3E3D-3ED4-FD96F608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F6E5-2579-8515-326E-F21DE937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706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8F891-4F89-CBFB-52DF-DB5EC8E61B8E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TOOLCHAIN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E1F4CC-D592-B9FF-9AD3-B05E358B0577}"/>
              </a:ext>
            </a:extLst>
          </p:cNvPr>
          <p:cNvCxnSpPr>
            <a:cxnSpLocks/>
          </p:cNvCxnSpPr>
          <p:nvPr/>
        </p:nvCxnSpPr>
        <p:spPr>
          <a:xfrm>
            <a:off x="838200" y="1355525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675252-82FB-BC5D-D2C2-E0FBECBA2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06965"/>
              </p:ext>
            </p:extLst>
          </p:nvPr>
        </p:nvGraphicFramePr>
        <p:xfrm>
          <a:off x="826545" y="1711302"/>
          <a:ext cx="10520980" cy="3893256"/>
        </p:xfrm>
        <a:graphic>
          <a:graphicData uri="http://schemas.openxmlformats.org/drawingml/2006/table">
            <a:tbl>
              <a:tblPr firstRow="1" bandRow="1">
                <a:effectLst>
                  <a:outerShdw sx="1000" sy="1000" algn="ctr" rotWithShape="0">
                    <a:srgbClr val="000000"/>
                  </a:outerShdw>
                </a:effectLst>
                <a:tableStyleId>{5C22544A-7EE6-4342-B048-85BDC9FD1C3A}</a:tableStyleId>
              </a:tblPr>
              <a:tblGrid>
                <a:gridCol w="5260490">
                  <a:extLst>
                    <a:ext uri="{9D8B030D-6E8A-4147-A177-3AD203B41FA5}">
                      <a16:colId xmlns:a16="http://schemas.microsoft.com/office/drawing/2014/main" val="248348446"/>
                    </a:ext>
                  </a:extLst>
                </a:gridCol>
                <a:gridCol w="5260490">
                  <a:extLst>
                    <a:ext uri="{9D8B030D-6E8A-4147-A177-3AD203B41FA5}">
                      <a16:colId xmlns:a16="http://schemas.microsoft.com/office/drawing/2014/main" val="2691109179"/>
                    </a:ext>
                  </a:extLst>
                </a:gridCol>
              </a:tblGrid>
              <a:tr h="648876"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 anchor="ctr"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in the project</a:t>
                      </a:r>
                    </a:p>
                  </a:txBody>
                  <a:tcPr anchor="ctr"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81052"/>
                  </a:ext>
                </a:extLst>
              </a:tr>
              <a:tr h="648876">
                <a:tc>
                  <a:txBody>
                    <a:bodyPr/>
                    <a:lstStyle/>
                    <a:p>
                      <a:r>
                        <a:rPr lang="en-US" dirty="0"/>
                        <a:t>Swift</a:t>
                      </a: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logic and application control flow</a:t>
                      </a: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86327"/>
                  </a:ext>
                </a:extLst>
              </a:tr>
              <a:tr h="648876">
                <a:tc>
                  <a:txBody>
                    <a:bodyPr/>
                    <a:lstStyle/>
                    <a:p>
                      <a:r>
                        <a:rPr lang="en-US" dirty="0" err="1"/>
                        <a:t>SwiftUI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Chat interface for input and message display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486302"/>
                  </a:ext>
                </a:extLst>
              </a:tr>
              <a:tr h="648876">
                <a:tc>
                  <a:txBody>
                    <a:bodyPr/>
                    <a:lstStyle/>
                    <a:p>
                      <a:r>
                        <a:rPr lang="en-US" dirty="0"/>
                        <a:t>Apple Network Framework</a:t>
                      </a: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 listener and UDP connections</a:t>
                      </a: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770073"/>
                  </a:ext>
                </a:extLst>
              </a:tr>
              <a:tr h="648876">
                <a:tc>
                  <a:txBody>
                    <a:bodyPr/>
                    <a:lstStyle/>
                    <a:p>
                      <a:r>
                        <a:rPr lang="en-US" dirty="0"/>
                        <a:t>Xcode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Development, build, and simulator testing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961285"/>
                  </a:ext>
                </a:extLst>
              </a:tr>
              <a:tr h="648876">
                <a:tc>
                  <a:txBody>
                    <a:bodyPr/>
                    <a:lstStyle/>
                    <a:p>
                      <a:r>
                        <a:rPr lang="en-US" dirty="0"/>
                        <a:t>Wireshark</a:t>
                      </a: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Packet capture and protocol analysis</a:t>
                      </a:r>
                    </a:p>
                  </a:txBody>
                  <a:tcPr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09968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1DB8C1-07ED-8145-4516-41644640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DD1A0B-E74F-B3E7-C701-C9660529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17328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425C-446B-167C-76FB-59145577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DA92-9F89-2CD6-E1BE-513183C8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8508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UDP Fundamentals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E0225-1F89-1B27-5900-308C88DCCD24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TRANSPORT LAYER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124C03-2205-93D6-80B4-0BE8285D26E4}"/>
              </a:ext>
            </a:extLst>
          </p:cNvPr>
          <p:cNvCxnSpPr>
            <a:cxnSpLocks/>
          </p:cNvCxnSpPr>
          <p:nvPr/>
        </p:nvCxnSpPr>
        <p:spPr>
          <a:xfrm>
            <a:off x="838199" y="1366327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BF51FE-CC77-F5A8-13DF-2518BD9C6ECB}"/>
              </a:ext>
            </a:extLst>
          </p:cNvPr>
          <p:cNvSpPr txBox="1"/>
          <p:nvPr/>
        </p:nvSpPr>
        <p:spPr>
          <a:xfrm>
            <a:off x="1146628" y="1973943"/>
            <a:ext cx="49493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Connectionless transport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handshake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delivery guarantee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ordering guarantee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flow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Preserves message boundaries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10B03-840F-7C90-DCCF-C7CDD6339189}"/>
              </a:ext>
            </a:extLst>
          </p:cNvPr>
          <p:cNvSpPr txBox="1"/>
          <p:nvPr/>
        </p:nvSpPr>
        <p:spPr>
          <a:xfrm>
            <a:off x="7620000" y="1946377"/>
            <a:ext cx="34253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Common UDP 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 gaming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Voice calls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communication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B718A8-69D6-3D91-AE19-56B24633B790}"/>
              </a:ext>
            </a:extLst>
          </p:cNvPr>
          <p:cNvSpPr/>
          <p:nvPr/>
        </p:nvSpPr>
        <p:spPr>
          <a:xfrm>
            <a:off x="1697913" y="5072913"/>
            <a:ext cx="1944915" cy="707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Message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FB3C5-8359-A6EE-3FC1-E3B0D96FD1F5}"/>
              </a:ext>
            </a:extLst>
          </p:cNvPr>
          <p:cNvSpPr/>
          <p:nvPr/>
        </p:nvSpPr>
        <p:spPr>
          <a:xfrm>
            <a:off x="5145056" y="5078201"/>
            <a:ext cx="1944915" cy="697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Message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F6F6DF-D832-1429-AE90-2386B92A92D4}"/>
              </a:ext>
            </a:extLst>
          </p:cNvPr>
          <p:cNvSpPr/>
          <p:nvPr/>
        </p:nvSpPr>
        <p:spPr>
          <a:xfrm>
            <a:off x="8592199" y="5088779"/>
            <a:ext cx="1944915" cy="686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Message 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E1BC30-426E-E03A-5427-B57E89E29889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3642828" y="5426856"/>
            <a:ext cx="1502228" cy="1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6F2055-B259-870A-616A-023C760DA67A}"/>
              </a:ext>
            </a:extLst>
          </p:cNvPr>
          <p:cNvCxnSpPr>
            <a:cxnSpLocks/>
          </p:cNvCxnSpPr>
          <p:nvPr/>
        </p:nvCxnSpPr>
        <p:spPr>
          <a:xfrm flipV="1">
            <a:off x="7089971" y="5426856"/>
            <a:ext cx="1502228" cy="1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7E98D8E1-4681-9AAC-C633-4B4D160F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72D3ECA8-4811-C027-CD4C-0A1BC6AA8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412188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E9D9-0B10-DCDD-3028-19431973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9ED-8012-465A-749C-E0225ABC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Application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35D77-1967-3CA6-18FC-51ED4C838BB3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SYSYTEM DESIGN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BF6853-1681-7704-DDA8-7680DA6CC318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0650E7-D084-C73A-9690-54443165719D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1810658" y="5271111"/>
            <a:ext cx="0" cy="332788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5FBE139-509C-3D05-9B3E-9EDD0A295BCF}"/>
              </a:ext>
            </a:extLst>
          </p:cNvPr>
          <p:cNvSpPr/>
          <p:nvPr/>
        </p:nvSpPr>
        <p:spPr>
          <a:xfrm>
            <a:off x="838202" y="1524000"/>
            <a:ext cx="1944915" cy="707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SwiftUI</a:t>
            </a:r>
            <a:r>
              <a:rPr lang="en-US" b="1" dirty="0">
                <a:solidFill>
                  <a:schemeClr val="tx1"/>
                </a:solidFill>
              </a:rPr>
              <a:t> Chat 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FB2D44-AB86-2B24-D0F1-976FA54FEE37}"/>
              </a:ext>
            </a:extLst>
          </p:cNvPr>
          <p:cNvSpPr/>
          <p:nvPr/>
        </p:nvSpPr>
        <p:spPr>
          <a:xfrm>
            <a:off x="838201" y="2524837"/>
            <a:ext cx="1944915" cy="69731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Chat </a:t>
            </a:r>
            <a:r>
              <a:rPr lang="en-US" b="1" dirty="0" err="1">
                <a:solidFill>
                  <a:schemeClr val="tx1"/>
                </a:solidFill>
              </a:rPr>
              <a:t>ViewModel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F78ED6-1B79-B54B-2962-ED5C3670B93D}"/>
              </a:ext>
            </a:extLst>
          </p:cNvPr>
          <p:cNvSpPr/>
          <p:nvPr/>
        </p:nvSpPr>
        <p:spPr>
          <a:xfrm>
            <a:off x="838202" y="3565513"/>
            <a:ext cx="1944915" cy="686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UDP Network Service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225CDC-24DD-64C1-6AFB-09191D7D4060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1810659" y="2231887"/>
            <a:ext cx="1" cy="292950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CBC9C6-D56D-087B-AED9-AD49BBA8A65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1810659" y="3222147"/>
            <a:ext cx="1" cy="343366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B748F44-473D-7C92-BB58-990597A42FEA}"/>
              </a:ext>
            </a:extLst>
          </p:cNvPr>
          <p:cNvSpPr/>
          <p:nvPr/>
        </p:nvSpPr>
        <p:spPr>
          <a:xfrm>
            <a:off x="838200" y="5603899"/>
            <a:ext cx="1944915" cy="707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Peer Chat Client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20D3-827D-4125-C9E0-39089EF9AC12}"/>
              </a:ext>
            </a:extLst>
          </p:cNvPr>
          <p:cNvSpPr/>
          <p:nvPr/>
        </p:nvSpPr>
        <p:spPr>
          <a:xfrm>
            <a:off x="838200" y="4573801"/>
            <a:ext cx="1944915" cy="69731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UDP Datagram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1C3D75-C708-F9D1-26FC-7DE0862546D1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 flipH="1">
            <a:off x="1810658" y="4252245"/>
            <a:ext cx="2" cy="321556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EC8DFB5-EAE1-3D7A-C55B-D3D88932F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672108"/>
              </p:ext>
            </p:extLst>
          </p:nvPr>
        </p:nvGraphicFramePr>
        <p:xfrm>
          <a:off x="3236690" y="1523999"/>
          <a:ext cx="8621482" cy="4728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0741">
                  <a:extLst>
                    <a:ext uri="{9D8B030D-6E8A-4147-A177-3AD203B41FA5}">
                      <a16:colId xmlns:a16="http://schemas.microsoft.com/office/drawing/2014/main" val="309366383"/>
                    </a:ext>
                  </a:extLst>
                </a:gridCol>
                <a:gridCol w="4310741">
                  <a:extLst>
                    <a:ext uri="{9D8B030D-6E8A-4147-A177-3AD203B41FA5}">
                      <a16:colId xmlns:a16="http://schemas.microsoft.com/office/drawing/2014/main" val="79963847"/>
                    </a:ext>
                  </a:extLst>
                </a:gridCol>
              </a:tblGrid>
              <a:tr h="932976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 anchor="ctr"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</a:p>
                  </a:txBody>
                  <a:tcPr anchor="ctr"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40516"/>
                  </a:ext>
                </a:extLst>
              </a:tr>
              <a:tr h="996542">
                <a:tc>
                  <a:txBody>
                    <a:bodyPr/>
                    <a:lstStyle/>
                    <a:p>
                      <a:r>
                        <a:rPr lang="en-US" dirty="0"/>
                        <a:t>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messages and collects user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363640"/>
                  </a:ext>
                </a:extLst>
              </a:tr>
              <a:tr h="932976">
                <a:tc>
                  <a:txBody>
                    <a:bodyPr/>
                    <a:lstStyle/>
                    <a:p>
                      <a:r>
                        <a:rPr lang="en-US" dirty="0" err="1"/>
                        <a:t>ViewModel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state and chat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557959"/>
                  </a:ext>
                </a:extLst>
              </a:tr>
              <a:tr h="932976">
                <a:tc>
                  <a:txBody>
                    <a:bodyPr/>
                    <a:lstStyle/>
                    <a:p>
                      <a:r>
                        <a:rPr lang="en-US" dirty="0"/>
                        <a:t>Network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Sends and receives UDP packets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317792"/>
                  </a:ext>
                </a:extLst>
              </a:tr>
              <a:tr h="932976">
                <a:tc>
                  <a:txBody>
                    <a:bodyPr/>
                    <a:lstStyle/>
                    <a:p>
                      <a:r>
                        <a:rPr lang="en-US" dirty="0"/>
                        <a:t>Message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Stores sender, text, time and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841"/>
                  </a:ext>
                </a:extLst>
              </a:tr>
            </a:tbl>
          </a:graphicData>
        </a:graphic>
      </p:graphicFrame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EF468A29-8090-C148-D94A-4B780A58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6</a:t>
            </a:fld>
            <a:endParaRPr lang="en-US"/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6EAAF15C-1D12-A7E4-CA2C-E5EB4759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4199335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25211-B6D3-B1EB-BC02-37CD85C1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2BDD-DCD2-2BB8-376B-0051794A9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Message Communication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7DFDF-23B0-AED4-09B7-26A6C3C9F014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DATAGRAM LIFECYCLE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7B6041-5B54-D529-1427-AED8449E7C91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4FB0F2-AF76-5DA4-4B14-532CBA5E467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328533" y="1928262"/>
            <a:ext cx="617121" cy="10259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4A985A5-98F6-59E6-45C0-130F5B6057A1}"/>
              </a:ext>
            </a:extLst>
          </p:cNvPr>
          <p:cNvSpPr/>
          <p:nvPr/>
        </p:nvSpPr>
        <p:spPr>
          <a:xfrm>
            <a:off x="967786" y="1597097"/>
            <a:ext cx="1593031" cy="6798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SwiftUI</a:t>
            </a:r>
            <a:r>
              <a:rPr lang="en-US" b="1" dirty="0">
                <a:solidFill>
                  <a:schemeClr val="tx1"/>
                </a:solidFill>
              </a:rPr>
              <a:t> Chat 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9999FA-8C36-A7CF-26F4-D0C82502DC05}"/>
              </a:ext>
            </a:extLst>
          </p:cNvPr>
          <p:cNvSpPr/>
          <p:nvPr/>
        </p:nvSpPr>
        <p:spPr>
          <a:xfrm>
            <a:off x="3135807" y="1588514"/>
            <a:ext cx="1593030" cy="69731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Chat </a:t>
            </a:r>
            <a:r>
              <a:rPr lang="en-US" b="1" dirty="0" err="1">
                <a:solidFill>
                  <a:schemeClr val="tx1"/>
                </a:solidFill>
              </a:rPr>
              <a:t>ViewModel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0FAFF4-A92D-9209-2352-40B41439FCB3}"/>
              </a:ext>
            </a:extLst>
          </p:cNvPr>
          <p:cNvSpPr/>
          <p:nvPr/>
        </p:nvSpPr>
        <p:spPr>
          <a:xfrm>
            <a:off x="5480028" y="1593803"/>
            <a:ext cx="1593030" cy="686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UDP Network Service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DEF784-6CBE-50EF-8FE9-A5194AB60CE9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2560817" y="1937007"/>
            <a:ext cx="574990" cy="162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06E1AD-2B88-01E7-2340-061C923E0453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4728837" y="1937169"/>
            <a:ext cx="751191" cy="0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04D22E7-D57B-FBB8-6782-4BF9A86C4883}"/>
              </a:ext>
            </a:extLst>
          </p:cNvPr>
          <p:cNvSpPr/>
          <p:nvPr/>
        </p:nvSpPr>
        <p:spPr>
          <a:xfrm>
            <a:off x="9903523" y="1599473"/>
            <a:ext cx="1408146" cy="707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Peer Client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517F2-222A-29DB-FB90-B11851ABF5B1}"/>
              </a:ext>
            </a:extLst>
          </p:cNvPr>
          <p:cNvSpPr/>
          <p:nvPr/>
        </p:nvSpPr>
        <p:spPr>
          <a:xfrm>
            <a:off x="7735503" y="1579607"/>
            <a:ext cx="1593030" cy="69731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UDP Datagram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BB74AC-214B-3F4D-75E5-15A2C5AAB296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7073058" y="1928262"/>
            <a:ext cx="662445" cy="8907"/>
          </a:xfrm>
          <a:prstGeom prst="straightConnector1">
            <a:avLst/>
          </a:prstGeom>
          <a:ln w="41275" cap="flat" cmpd="sng">
            <a:solidFill>
              <a:srgbClr val="0080CE"/>
            </a:solidFill>
            <a:headEnd type="none" w="lg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4E6B3EA-EAE5-8BEE-32B0-DB2A51E2AD21}"/>
              </a:ext>
            </a:extLst>
          </p:cNvPr>
          <p:cNvSpPr txBox="1"/>
          <p:nvPr/>
        </p:nvSpPr>
        <p:spPr>
          <a:xfrm>
            <a:off x="967786" y="2960914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enters a message.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SwiftUI</a:t>
            </a:r>
            <a:r>
              <a:rPr lang="en-US" dirty="0"/>
              <a:t> passes the text to the </a:t>
            </a:r>
            <a:r>
              <a:rPr lang="en-US" dirty="0" err="1"/>
              <a:t>viewModel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viewModel</a:t>
            </a:r>
            <a:r>
              <a:rPr lang="en-US" dirty="0"/>
              <a:t> call the UDP network 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is converted into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datagram is sent to the destination endpoint.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Receiver gets the datagram.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converted back into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 appears in chat.</a:t>
            </a:r>
          </a:p>
        </p:txBody>
      </p: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EFC31191-34ED-C51F-E43A-B21BA00A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7</a:t>
            </a:fld>
            <a:endParaRPr lang="en-US"/>
          </a:p>
        </p:txBody>
      </p:sp>
      <p:sp>
        <p:nvSpPr>
          <p:cNvPr id="80" name="Footer Placeholder 79">
            <a:extLst>
              <a:ext uri="{FF2B5EF4-FFF2-40B4-BE49-F238E27FC236}">
                <a16:creationId xmlns:a16="http://schemas.microsoft.com/office/drawing/2014/main" id="{4EB127B0-51AD-DC0C-EFA3-72BA0251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65061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2F90B-700A-4E1E-0F0C-78BAF238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13A7-0E1D-EB82-48F5-9D0E4B31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IP Addresses and Port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2E31B-1FAC-FD60-8E44-5D4668988A7D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ADDRESSING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2D5F08-C75B-2137-5B38-9321835CFD00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A5B6EF-D3B2-8F68-62D5-9B2EF526E527}"/>
              </a:ext>
            </a:extLst>
          </p:cNvPr>
          <p:cNvSpPr txBox="1"/>
          <p:nvPr/>
        </p:nvSpPr>
        <p:spPr>
          <a:xfrm>
            <a:off x="967785" y="2325219"/>
            <a:ext cx="54765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address identifies the destination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 number identifies the destination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port receives incoming messages.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Peer port is the destination when sending.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C73E7-D532-DA9B-897B-3ED316D8FD44}"/>
              </a:ext>
            </a:extLst>
          </p:cNvPr>
          <p:cNvSpPr txBox="1"/>
          <p:nvPr/>
        </p:nvSpPr>
        <p:spPr>
          <a:xfrm>
            <a:off x="967785" y="1625600"/>
            <a:ext cx="9148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An endpoint combines a device address and  an application port.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EB1EDE-0D3B-9F78-62C5-55E1CC19A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833927"/>
              </p:ext>
            </p:extLst>
          </p:nvPr>
        </p:nvGraphicFramePr>
        <p:xfrm>
          <a:off x="6879771" y="3165757"/>
          <a:ext cx="5024277" cy="109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759">
                  <a:extLst>
                    <a:ext uri="{9D8B030D-6E8A-4147-A177-3AD203B41FA5}">
                      <a16:colId xmlns:a16="http://schemas.microsoft.com/office/drawing/2014/main" val="1641499712"/>
                    </a:ext>
                  </a:extLst>
                </a:gridCol>
                <a:gridCol w="1674759">
                  <a:extLst>
                    <a:ext uri="{9D8B030D-6E8A-4147-A177-3AD203B41FA5}">
                      <a16:colId xmlns:a16="http://schemas.microsoft.com/office/drawing/2014/main" val="1385397811"/>
                    </a:ext>
                  </a:extLst>
                </a:gridCol>
                <a:gridCol w="1674759">
                  <a:extLst>
                    <a:ext uri="{9D8B030D-6E8A-4147-A177-3AD203B41FA5}">
                      <a16:colId xmlns:a16="http://schemas.microsoft.com/office/drawing/2014/main" val="3074077823"/>
                    </a:ext>
                  </a:extLst>
                </a:gridCol>
              </a:tblGrid>
              <a:tr h="366001">
                <a:tc>
                  <a:txBody>
                    <a:bodyPr/>
                    <a:lstStyle/>
                    <a:p>
                      <a:r>
                        <a:rPr lang="en-US" dirty="0"/>
                        <a:t>Client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 address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888883"/>
                  </a:ext>
                </a:extLst>
              </a:tr>
              <a:tr h="366001">
                <a:tc>
                  <a:txBody>
                    <a:bodyPr/>
                    <a:lstStyle/>
                    <a:p>
                      <a:r>
                        <a:rPr lang="en-US" dirty="0"/>
                        <a:t>Client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550988"/>
                  </a:ext>
                </a:extLst>
              </a:tr>
              <a:tr h="366001">
                <a:tc>
                  <a:txBody>
                    <a:bodyPr/>
                    <a:lstStyle/>
                    <a:p>
                      <a:r>
                        <a:rPr lang="en-US" dirty="0"/>
                        <a:t>Client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6216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D03CD5-D83F-1011-105A-9CDEED21C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725359"/>
              </p:ext>
            </p:extLst>
          </p:nvPr>
        </p:nvGraphicFramePr>
        <p:xfrm>
          <a:off x="6879771" y="2133226"/>
          <a:ext cx="5024277" cy="914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277">
                  <a:extLst>
                    <a:ext uri="{9D8B030D-6E8A-4147-A177-3AD203B41FA5}">
                      <a16:colId xmlns:a16="http://schemas.microsoft.com/office/drawing/2014/main" val="3125500470"/>
                    </a:ext>
                  </a:extLst>
                </a:gridCol>
              </a:tblGrid>
              <a:tr h="9147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Source: 192.168.1.10:5000</a:t>
                      </a:r>
                    </a:p>
                    <a:p>
                      <a:pPr algn="ctr"/>
                      <a:r>
                        <a:rPr lang="en-US" dirty="0"/>
                        <a:t>Destination: 192.168.1.11:5001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4434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08F659-4BF8-BC02-BC94-97F7A3D60322}"/>
              </a:ext>
            </a:extLst>
          </p:cNvPr>
          <p:cNvSpPr txBox="1"/>
          <p:nvPr/>
        </p:nvSpPr>
        <p:spPr>
          <a:xfrm>
            <a:off x="967785" y="3714758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CE"/>
                </a:solidFill>
              </a:rPr>
              <a:t>Bonjour or UDP  broadcasting can be used for automatic peer discovery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F666084-E9C6-AE2C-7A45-BD53BA0A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8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EF71BC8-D8AD-1B2F-02C8-6C26A78B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224621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74AB-C8CC-CBFE-5085-4A319059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B754-45CA-DF06-F100-D80759675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Important Swift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C9CB1-248A-4B3B-C857-02D098826CBB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SOCKET PROGRAMMING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71C61F-12AF-9DCA-976D-C7DA2DBA4DD7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62BBD34-E436-7DBB-206A-11C6C8A38429}"/>
              </a:ext>
            </a:extLst>
          </p:cNvPr>
          <p:cNvSpPr txBox="1"/>
          <p:nvPr/>
        </p:nvSpPr>
        <p:spPr>
          <a:xfrm>
            <a:off x="7739788" y="1451733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message is sent as an independent UDP datagram.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callbacks run off the main thread.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SwiftUI</a:t>
            </a:r>
            <a:r>
              <a:rPr lang="en-US" dirty="0"/>
              <a:t> state must be updated on the main thread.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2B389-6C5C-3899-9B54-0CBF139AB751}"/>
              </a:ext>
            </a:extLst>
          </p:cNvPr>
          <p:cNvSpPr txBox="1"/>
          <p:nvPr/>
        </p:nvSpPr>
        <p:spPr>
          <a:xfrm>
            <a:off x="807586" y="1931958"/>
            <a:ext cx="2936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Create a UDP Listener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09A94-A746-B54F-7B6A-59607659B010}"/>
              </a:ext>
            </a:extLst>
          </p:cNvPr>
          <p:cNvSpPr txBox="1"/>
          <p:nvPr/>
        </p:nvSpPr>
        <p:spPr>
          <a:xfrm>
            <a:off x="807586" y="3575198"/>
            <a:ext cx="2484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Send one datagram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46963-7D05-681C-4F6D-6744C6B23369}"/>
              </a:ext>
            </a:extLst>
          </p:cNvPr>
          <p:cNvSpPr txBox="1"/>
          <p:nvPr/>
        </p:nvSpPr>
        <p:spPr>
          <a:xfrm>
            <a:off x="838199" y="5241027"/>
            <a:ext cx="2936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Receive and update UI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CCA845-69B1-4A61-4253-BAAFCDD41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758" y="1505614"/>
            <a:ext cx="3934416" cy="12862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61DD26-7986-1BF4-37BB-0088E0E84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371" y="3013217"/>
            <a:ext cx="3424057" cy="15411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55BD60-437F-160E-C78B-A23DD61D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372" y="4775730"/>
            <a:ext cx="5070850" cy="1276243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45EEC-A64D-4840-EDE9-58BD48F6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9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60C38C0-65E3-3F98-1802-69753BA6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4294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8C4F-6769-2D85-B313-0D836FC6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0B24-2E77-CCEE-27E5-749EBE98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Wireshark Packet Capture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B9F1D-362D-CAEA-88CA-7199488E99CC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PACKET CAPTURE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1330D8-4735-D911-EA4B-774A4FBAE59D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652A1C3-BDF2-F564-1A71-86A7D4AE590E}"/>
              </a:ext>
            </a:extLst>
          </p:cNvPr>
          <p:cNvSpPr txBox="1"/>
          <p:nvPr/>
        </p:nvSpPr>
        <p:spPr>
          <a:xfrm>
            <a:off x="838200" y="1553333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Wireshark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the correct network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capture packets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both chat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chat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a UDP display filter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2C8915-F37C-0645-51C1-2469B4A89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205278"/>
              </p:ext>
            </p:extLst>
          </p:nvPr>
        </p:nvGraphicFramePr>
        <p:xfrm>
          <a:off x="6553200" y="1553333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55733785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65972144"/>
                    </a:ext>
                  </a:extLst>
                </a:gridCol>
              </a:tblGrid>
              <a:tr h="350859">
                <a:tc>
                  <a:txBody>
                    <a:bodyPr/>
                    <a:lstStyle/>
                    <a:p>
                      <a:r>
                        <a:rPr lang="en-US" dirty="0"/>
                        <a:t>Filter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14221"/>
                  </a:ext>
                </a:extLst>
              </a:tr>
              <a:tr h="350859"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UDP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643230"/>
                  </a:ext>
                </a:extLst>
              </a:tr>
              <a:tr h="350859">
                <a:tc>
                  <a:txBody>
                    <a:bodyPr/>
                    <a:lstStyle/>
                    <a:p>
                      <a:r>
                        <a:rPr lang="en-US" dirty="0" err="1"/>
                        <a:t>UDP.port</a:t>
                      </a:r>
                      <a:r>
                        <a:rPr lang="en-US" dirty="0"/>
                        <a:t> == 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 one UDP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45313"/>
                  </a:ext>
                </a:extLst>
              </a:tr>
              <a:tr h="350859">
                <a:tc>
                  <a:txBody>
                    <a:bodyPr/>
                    <a:lstStyle/>
                    <a:p>
                      <a:r>
                        <a:rPr lang="en-US" dirty="0" err="1"/>
                        <a:t>Ip.addr</a:t>
                      </a:r>
                      <a:r>
                        <a:rPr lang="en-US" dirty="0"/>
                        <a:t> == 192.168.1.10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 one host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42721"/>
                  </a:ext>
                </a:extLst>
              </a:tr>
              <a:tr h="350859">
                <a:tc>
                  <a:txBody>
                    <a:bodyPr/>
                    <a:lstStyle/>
                    <a:p>
                      <a:r>
                        <a:rPr lang="en-US" dirty="0" err="1"/>
                        <a:t>Udp</a:t>
                      </a:r>
                      <a:r>
                        <a:rPr lang="en-US" dirty="0"/>
                        <a:t> &amp;&amp; frame contains “Hello”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message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3410"/>
                  </a:ext>
                </a:extLst>
              </a:tr>
            </a:tbl>
          </a:graphicData>
        </a:graphic>
      </p:graphicFrame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3617D31-D546-2EFB-BAEC-7D950539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10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CB22416F-A654-5342-4F1C-7BCB2D11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230483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AF87-E0A6-4BBC-9923-3B293FFE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4B0920-6BF9-1AE1-F1D9-63F7EA90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58" y="136525"/>
            <a:ext cx="10090890" cy="6306805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22390D1-7FA2-2EAC-2664-92B72F4F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11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CE1B78F-D614-B904-E283-1DFCCC99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402827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60BA3-9036-F034-6242-8DA8621D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D60D-8A66-A6D8-AE99-8914F85B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Wireshark Packet Capture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512AE-17FA-451E-BCBA-015D30CF1A8A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PACKET CAPTURE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2CD511-F7D8-723F-F2C0-38918312712E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F958317-2B2D-7D05-062E-C9D61E20D0A6}"/>
              </a:ext>
            </a:extLst>
          </p:cNvPr>
          <p:cNvSpPr txBox="1"/>
          <p:nvPr/>
        </p:nvSpPr>
        <p:spPr>
          <a:xfrm>
            <a:off x="6313716" y="1488558"/>
            <a:ext cx="5040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payload: Hello from the Client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Unencrypted UDP payload may be readable in Wireshark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7B4E8A-3129-F803-E278-1004AA931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25872"/>
              </p:ext>
            </p:extLst>
          </p:nvPr>
        </p:nvGraphicFramePr>
        <p:xfrm>
          <a:off x="838200" y="1535342"/>
          <a:ext cx="5040086" cy="3787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43">
                  <a:extLst>
                    <a:ext uri="{9D8B030D-6E8A-4147-A177-3AD203B41FA5}">
                      <a16:colId xmlns:a16="http://schemas.microsoft.com/office/drawing/2014/main" val="3557337854"/>
                    </a:ext>
                  </a:extLst>
                </a:gridCol>
                <a:gridCol w="2520043">
                  <a:extLst>
                    <a:ext uri="{9D8B030D-6E8A-4147-A177-3AD203B41FA5}">
                      <a16:colId xmlns:a16="http://schemas.microsoft.com/office/drawing/2014/main" val="1665972144"/>
                    </a:ext>
                  </a:extLst>
                </a:gridCol>
              </a:tblGrid>
              <a:tr h="384869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 to identify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14221"/>
                  </a:ext>
                </a:extLst>
              </a:tr>
              <a:tr h="758035">
                <a:tc>
                  <a:txBody>
                    <a:bodyPr/>
                    <a:lstStyle/>
                    <a:p>
                      <a:r>
                        <a:rPr lang="en-US" dirty="0"/>
                        <a:t>Ethernet/Loopback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Source, destination, frame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643230"/>
                  </a:ext>
                </a:extLst>
              </a:tr>
              <a:tr h="985446">
                <a:tc>
                  <a:txBody>
                    <a:bodyPr/>
                    <a:lstStyle/>
                    <a:p>
                      <a:r>
                        <a:rPr lang="en-US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IP, destination IP, TTL, protocol, total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45313"/>
                  </a:ext>
                </a:extLst>
              </a:tr>
              <a:tr h="985446">
                <a:tc>
                  <a:txBody>
                    <a:bodyPr/>
                    <a:lstStyle/>
                    <a:p>
                      <a:r>
                        <a:rPr lang="en-US" dirty="0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port, destination port, length and checksum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42721"/>
                  </a:ext>
                </a:extLst>
              </a:tr>
              <a:tr h="673520"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Readable chat-message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34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3A35F-CB32-1772-B735-33E6BB51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85F4A-9CBA-1BDF-651E-E165EB49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2990292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8AE5-37EC-CD20-5F3A-E1BE4A9B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D36B9BD-EC96-E4D0-4CEC-B4D9BDDAA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46" y="136525"/>
            <a:ext cx="10085908" cy="63036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E7E223-0D14-5D88-1885-97E1BE3C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262A-2A8E-6C6A-81EE-BAF18A86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301636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016B-3446-499F-9930-E9E17D73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3975-8AA4-5E60-287B-BA13C40B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Testing and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7E71D-690F-D948-2F19-AD37F3C50A53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VALIDATION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685438-A860-FE9E-DAAE-94F0998F94C3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B0A038E-EC18-2371-2E91-B6A56146BED3}"/>
              </a:ext>
            </a:extLst>
          </p:cNvPr>
          <p:cNvSpPr txBox="1"/>
          <p:nvPr/>
        </p:nvSpPr>
        <p:spPr>
          <a:xfrm>
            <a:off x="838199" y="4352849"/>
            <a:ext cx="8178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 are transmitted as independent datagram.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connection setup occurs.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Source and Destination port are visible.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Messages may be lost if the receiver is unavailable.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sender receives no delivery confirmation.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17D7B9-C76B-3413-ADA2-9135FEE09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61363"/>
              </p:ext>
            </p:extLst>
          </p:nvPr>
        </p:nvGraphicFramePr>
        <p:xfrm>
          <a:off x="838199" y="1541530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609131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326459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203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 Case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result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Observed result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80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Receiver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Message appears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97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Reply from second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Datagram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9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Receiver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Message may be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delivery confirmation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696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Rapid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Independent packets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datagram visible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63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Payload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Captured in Wireshark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14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Wireshark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UDP header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 and payload visible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81266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FE962-CA5A-F068-71B4-57751128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34CFB9-7D37-AD7C-E4D6-B5D12531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3635898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5C419-0F8F-D6B0-38DC-BAF3BD6C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5996-960B-4374-283C-1D0FCC8A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Challenges, Limitation, and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C56E2-3560-65D7-E2D0-42043B91AF9D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PROTOCOL COMPARISON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C6094B-E8AA-8159-C063-6BAAE01A0DE6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9A1B49-5CFB-95F2-B092-BDD261FC3BAB}"/>
              </a:ext>
            </a:extLst>
          </p:cNvPr>
          <p:cNvSpPr txBox="1"/>
          <p:nvPr/>
        </p:nvSpPr>
        <p:spPr>
          <a:xfrm>
            <a:off x="838200" y="1720840"/>
            <a:ext cx="39333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two clients on one computer.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Finding the correct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Simulator networking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Updating </a:t>
            </a:r>
            <a:r>
              <a:rPr lang="en-US" dirty="0" err="1"/>
              <a:t>SwiftUI</a:t>
            </a:r>
            <a:r>
              <a:rPr lang="en-US" dirty="0"/>
              <a:t> from background callbacks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Avoiding port conflicts.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local-network permission.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BA163-F015-5234-578D-6D96C73FE450}"/>
              </a:ext>
            </a:extLst>
          </p:cNvPr>
          <p:cNvSpPr txBox="1"/>
          <p:nvPr/>
        </p:nvSpPr>
        <p:spPr>
          <a:xfrm>
            <a:off x="4934857" y="1756229"/>
            <a:ext cx="3410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Limitations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delivery guarantee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acknowledgements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message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NAT traversal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ED210-C277-DD41-9992-ACCA26D96FA0}"/>
              </a:ext>
            </a:extLst>
          </p:cNvPr>
          <p:cNvSpPr txBox="1"/>
          <p:nvPr/>
        </p:nvSpPr>
        <p:spPr>
          <a:xfrm>
            <a:off x="8345714" y="1720840"/>
            <a:ext cx="3410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Future improvements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Bonjour peer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broadcast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 ID’s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Acknowledgement packets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Retry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Sequence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Duplicate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chat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TCP comparison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83B2542-7161-0B7E-E258-89F5D940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4235C73-A061-600E-9DC1-E65E4FF9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643897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2248-0A74-2148-75DC-B80C0D8C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9769-EB5C-2BE9-7E84-73BCA43E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271"/>
            <a:ext cx="10515600" cy="68392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 and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336B0-FA0B-6489-74E8-969DCB67FB21}"/>
              </a:ext>
            </a:extLst>
          </p:cNvPr>
          <p:cNvSpPr txBox="1"/>
          <p:nvPr/>
        </p:nvSpPr>
        <p:spPr>
          <a:xfrm>
            <a:off x="838200" y="180459"/>
            <a:ext cx="3270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80CE"/>
                </a:solidFill>
              </a:rPr>
              <a:t>WRAP UP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EA0B-458D-B6B3-8DD3-B697E3C73E7D}"/>
              </a:ext>
            </a:extLst>
          </p:cNvPr>
          <p:cNvCxnSpPr>
            <a:cxnSpLocks/>
          </p:cNvCxnSpPr>
          <p:nvPr/>
        </p:nvCxnSpPr>
        <p:spPr>
          <a:xfrm>
            <a:off x="838200" y="1326090"/>
            <a:ext cx="10520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6836594-930B-D078-1DCC-C4C32B233E41}"/>
              </a:ext>
            </a:extLst>
          </p:cNvPr>
          <p:cNvSpPr txBox="1"/>
          <p:nvPr/>
        </p:nvSpPr>
        <p:spPr>
          <a:xfrm>
            <a:off x="838199" y="2202462"/>
            <a:ext cx="42853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socket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addressing and port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Connectionless message exchange.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Packet capture 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speed and low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UDP reliability limitations.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15744-EA8F-4BE2-DE54-E230AB651B77}"/>
              </a:ext>
            </a:extLst>
          </p:cNvPr>
          <p:cNvSpPr txBox="1"/>
          <p:nvPr/>
        </p:nvSpPr>
        <p:spPr>
          <a:xfrm>
            <a:off x="838199" y="1429987"/>
            <a:ext cx="10976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Project demonstrate how UDP enables fast, connectionless, communication between network clients.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33E3425-F341-68B1-3934-33B07EB3C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326938"/>
              </p:ext>
            </p:extLst>
          </p:nvPr>
        </p:nvGraphicFramePr>
        <p:xfrm>
          <a:off x="5718629" y="2076318"/>
          <a:ext cx="51961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6114">
                  <a:extLst>
                    <a:ext uri="{9D8B030D-6E8A-4147-A177-3AD203B41FA5}">
                      <a16:colId xmlns:a16="http://schemas.microsoft.com/office/drawing/2014/main" val="403796374"/>
                    </a:ext>
                  </a:extLst>
                </a:gridCol>
              </a:tblGrid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How to run the code and capture in Wireshark</a:t>
                      </a:r>
                    </a:p>
                  </a:txBody>
                  <a:tcPr>
                    <a:solidFill>
                      <a:srgbClr val="0080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50991"/>
                  </a:ext>
                </a:extLst>
              </a:tr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Launch two clients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99182"/>
                  </a:ext>
                </a:extLst>
              </a:tr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Send a message from Client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16314"/>
                  </a:ext>
                </a:extLst>
              </a:tr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Receive it on Client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147697"/>
                  </a:ext>
                </a:extLst>
              </a:tr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Reply from Client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97006"/>
                  </a:ext>
                </a:extLst>
              </a:tr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Open Wireshark and filter UDP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45049"/>
                  </a:ext>
                </a:extLst>
              </a:tr>
              <a:tr h="362394">
                <a:tc>
                  <a:txBody>
                    <a:bodyPr/>
                    <a:lstStyle/>
                    <a:p>
                      <a:r>
                        <a:rPr lang="en-US" dirty="0"/>
                        <a:t>Identify IP address, port, UDP header, and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493806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C764F59-C1D1-C4B3-6BC0-3A37E78D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F4722B-25B5-6F69-25D4-5632F338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UDP Chat Application – Swift /SwiftUI / Wireshark</a:t>
            </a:r>
          </a:p>
        </p:txBody>
      </p:sp>
    </p:spTree>
    <p:extLst>
      <p:ext uri="{BB962C8B-B14F-4D97-AF65-F5344CB8AC3E}">
        <p14:creationId xmlns:p14="http://schemas.microsoft.com/office/powerpoint/2010/main" val="2055477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9DF8-6C67-5A9A-E990-146557842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08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80CE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7402C-D28A-8054-BFAF-28CFFB6C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UDP Chat Application – Swift /</a:t>
            </a:r>
            <a:r>
              <a:rPr lang="en-US" dirty="0" err="1"/>
              <a:t>SwiftUI</a:t>
            </a:r>
            <a:r>
              <a:rPr lang="en-US" dirty="0"/>
              <a:t> / Wireshark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78510-4355-E662-38D9-9B467BC54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0A5A-F9E4-8C4D-A136-CA4EB4B6B2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9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6312</TotalTime>
  <Words>1046</Words>
  <Application>Microsoft Macintosh PowerPoint</Application>
  <PresentationFormat>Widescreen</PresentationFormat>
  <Paragraphs>262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UDP Chat Application using Swift, SwiftUI and Wireshark</vt:lpstr>
      <vt:lpstr>Project Overview</vt:lpstr>
      <vt:lpstr>Problem Statement </vt:lpstr>
      <vt:lpstr>Technologies used</vt:lpstr>
      <vt:lpstr>UDP Fundamentals</vt:lpstr>
      <vt:lpstr>Application Architecture</vt:lpstr>
      <vt:lpstr>Message Communication Flow</vt:lpstr>
      <vt:lpstr>IP Addresses and Port Number</vt:lpstr>
      <vt:lpstr>Important Swift Implementation</vt:lpstr>
      <vt:lpstr>Wireshark Packet Capture</vt:lpstr>
      <vt:lpstr>PowerPoint Presentation</vt:lpstr>
      <vt:lpstr>Wireshark Packet Capture</vt:lpstr>
      <vt:lpstr>PowerPoint Presentation</vt:lpstr>
      <vt:lpstr>Testing and Results</vt:lpstr>
      <vt:lpstr>Challenges, Limitation, and Improvements</vt:lpstr>
      <vt:lpstr>Conclusion and 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Kushalkumar Thakar</dc:creator>
  <cp:lastModifiedBy>Kushalkumar Thakar</cp:lastModifiedBy>
  <cp:revision>10</cp:revision>
  <dcterms:created xsi:type="dcterms:W3CDTF">2026-07-21T15:31:40Z</dcterms:created>
  <dcterms:modified xsi:type="dcterms:W3CDTF">2026-08-08T23:30:10Z</dcterms:modified>
</cp:coreProperties>
</file>